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3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E10D67-513F-499B-A200-3B895B687643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A066CC-C7AB-4B30-865B-EBEF5D20018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63C0C0-3D79-43F8-B01C-B063B38D6C70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072649-B6C4-426C-BBE9-57543B2B131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4765FA-B665-4000-A6DA-2882204FACF3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E21EBD-77B5-4D12-873D-D2ACF0CB4BA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C42BC9-AF1C-400D-A0AD-3EEC4AEABCA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7681D2-DF29-4331-91F1-D0A890E62D0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195776-AC88-4AAF-B73E-6988D8DD6F6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2DF7A2-09E1-4E2F-9D01-BA00A5C689A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7A6318-87DD-44EC-B004-805A7538E8B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143136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Lightweight Graph Neural Networks for Real-Time QoS-Aware Routing in Software-Defined Networks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453480"/>
            <a:ext cx="6400440" cy="19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666666"/>
                </a:solidFill>
                <a:effectLst/>
                <a:uFillTx/>
                <a:latin typeface="Montserrat SemiBold"/>
                <a:ea typeface="Montserrat SemiBold"/>
              </a:rPr>
              <a:t>K. Abaragithan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666666"/>
                </a:solidFill>
                <a:effectLst/>
                <a:uFillTx/>
                <a:latin typeface="Montserrat SemiBold"/>
                <a:ea typeface="Montserrat SemiBold"/>
              </a:rPr>
              <a:t>2021/SP/061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666666"/>
                </a:solidFill>
                <a:effectLst/>
                <a:uFillTx/>
                <a:latin typeface="Montserrat SemiBold"/>
                <a:ea typeface="Montserrat SemiBold"/>
              </a:rPr>
              <a:t>Under the supervision of Dr. K. Thabotharan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8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rgbClr val="666666"/>
                </a:solidFill>
                <a:effectLst/>
                <a:uFillTx/>
                <a:latin typeface="Montserrat SemiBold"/>
                <a:ea typeface="Montserrat SemiBold"/>
              </a:rPr>
              <a:t>October 2025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30760"/>
            <a:ext cx="82292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Introduction &amp; Background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3660120"/>
            <a:ext cx="8229240" cy="23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Impacted Applications: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The rise of real-time applications like IoT, autonomous systems, and video streaming demands networks that can dynamically adapt to ensure QoS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Traditional routing protocols lack adaptability to dynamic traffic conditions.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92;p2"/>
          <p:cNvSpPr/>
          <p:nvPr/>
        </p:nvSpPr>
        <p:spPr>
          <a:xfrm>
            <a:off x="457200" y="1564560"/>
            <a:ext cx="5603400" cy="113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Modern networks face challenges in maintaining QoS such as low latency, minimal packet loss and high throughput.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Google Shape;93;p2" descr=""/>
          <p:cNvPicPr/>
          <p:nvPr/>
        </p:nvPicPr>
        <p:blipFill>
          <a:blip r:embed="rId2"/>
          <a:stretch/>
        </p:blipFill>
        <p:spPr>
          <a:xfrm>
            <a:off x="5906160" y="1406520"/>
            <a:ext cx="2359080" cy="176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30760"/>
            <a:ext cx="8229240" cy="82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Introduction &amp; Background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33000"/>
            <a:ext cx="8229240" cy="379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Existing Solutions: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SDN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 separates control and data planes, enabling centralized, programmable routing decisions.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DRL-based routing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 methods learn adaptive policies but require heavy computation and long training cycles.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algn="just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GNN-based routing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 captures network structure efficiently but remains computationally expensive for real-time or edge-level deployment.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94120"/>
            <a:ext cx="8229240" cy="9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Problem Statement &amp; Objectives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468800"/>
            <a:ext cx="8229240" cy="445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Problem Statement: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spcBef>
                <a:spcPts val="641"/>
              </a:spcBef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Existing DRL/GNN-based routing methods are too computationally heavy for edge-level SDN controllers.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They require faster, resource-efficient models for real-time deployment.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39680" algn="just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Research Objectives: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spcBef>
                <a:spcPts val="641"/>
              </a:spcBef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Design a lightweight GNN for real-time QoS-aware routing approach for SDNs.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Apply pruning, quantization, and knowledge distillation for optimization.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Evaluate the performance of the proposed system against existing algorithms.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 algn="just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Analyze the trade-offs between accuracy, latency, and resource use.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48780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Literature Review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Google Shape;111;p5"/>
          <p:cNvGraphicFramePr/>
          <p:nvPr/>
        </p:nvGraphicFramePr>
        <p:xfrm>
          <a:off x="294120" y="1884240"/>
          <a:ext cx="8555400" cy="3416760"/>
        </p:xfrm>
        <a:graphic>
          <a:graphicData uri="http://schemas.openxmlformats.org/drawingml/2006/table">
            <a:tbl>
              <a:tblPr/>
              <a:tblGrid>
                <a:gridCol w="1146960"/>
                <a:gridCol w="2941920"/>
                <a:gridCol w="2381400"/>
                <a:gridCol w="2084760"/>
              </a:tblGrid>
              <a:tr h="34380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SemiBold"/>
                          <a:ea typeface="Montserrat SemiBold"/>
                        </a:rPr>
                        <a:t>Authors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SemiBold"/>
                          <a:ea typeface="Montserrat SemiBold"/>
                        </a:rPr>
                        <a:t>Methodology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SemiBold"/>
                          <a:ea typeface="Montserrat SemiBold"/>
                        </a:rPr>
                        <a:t>Key Contribution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SemiBold"/>
                          <a:ea typeface="Montserrat SemiBold"/>
                        </a:rPr>
                        <a:t>Limitation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5440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Kim </a:t>
                      </a:r>
                      <a:r>
                        <a:rPr b="0" i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et al.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DRL (DDPG)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M/M/1/K queue model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ATVM for state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DRL-based SDN routing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Balances delay &amp; loss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Slow training for dynamic topologies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7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Song </a:t>
                      </a:r>
                      <a:r>
                        <a:rPr b="0" i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et al.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DRL (DDPG)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Multi-QoS reward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QoS-aware routing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Reduced delay, higher efficiency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Single-metric DRL → local optimum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7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He </a:t>
                      </a:r>
                      <a:r>
                        <a:rPr b="0" i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et al.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DRL (SAC)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Causal Action Influence (CAI)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CeGCN for node/link      embedding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Combines causal inference + RL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Limited study on causal effects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GNN may miss link details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493920"/>
            <a:ext cx="8229240" cy="9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Literature Review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4545360"/>
            <a:ext cx="8229240" cy="137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Research Gap: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spcBef>
                <a:spcPts val="641"/>
              </a:spcBef>
              <a:buClr>
                <a:srgbClr val="073763"/>
              </a:buClr>
              <a:buSzPct val="108000"/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Existing GNN/DRL models perform well but are too heavy for real-time edge-level deployment.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50000"/>
              </a:lnSpc>
              <a:buClr>
                <a:srgbClr val="073763"/>
              </a:buClr>
              <a:buSzPct val="108000"/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Need lightweight GNN for efficient, real-time QoS routing.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2" name="Google Shape;118;p6"/>
          <p:cNvGraphicFramePr/>
          <p:nvPr/>
        </p:nvGraphicFramePr>
        <p:xfrm>
          <a:off x="294120" y="1831320"/>
          <a:ext cx="8555400" cy="1763640"/>
        </p:xfrm>
        <a:graphic>
          <a:graphicData uri="http://schemas.openxmlformats.org/drawingml/2006/table">
            <a:tbl>
              <a:tblPr/>
              <a:tblGrid>
                <a:gridCol w="1194480"/>
                <a:gridCol w="2894400"/>
                <a:gridCol w="2381400"/>
                <a:gridCol w="2084760"/>
              </a:tblGrid>
              <a:tr h="747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Ampratwum &amp; Nayak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Hybrid DRL + GNN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WDM restoration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Real-time load balancing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Needs real-time response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High training cost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</a:tr>
              <a:tr h="747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Jiang </a:t>
                      </a:r>
                      <a:r>
                        <a:rPr b="0" i="1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et al.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Survey on GNN (SL &amp; RL)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Overview of GNN in routing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Highlights benefits over Dijkstra/OSPF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marL="457200" indent="-279360">
                        <a:lnSpc>
                          <a:spcPct val="100000"/>
                        </a:lnSpc>
                        <a:buClr>
                          <a:srgbClr val="073763"/>
                        </a:buClr>
                        <a:buFont typeface="Montserrat Medium"/>
                        <a:buChar char="●"/>
                      </a:pPr>
                      <a:r>
                        <a:rPr b="0" lang="en-US" sz="1400" strike="noStrike" u="none">
                          <a:solidFill>
                            <a:srgbClr val="073763"/>
                          </a:solidFill>
                          <a:effectLst/>
                          <a:uFillTx/>
                          <a:latin typeface="Montserrat Medium"/>
                          <a:ea typeface="Montserrat Medium"/>
                        </a:rPr>
                        <a:t>Scalability &amp; explainability issues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73763"/>
                      </a:solidFill>
                      <a:prstDash val="solid"/>
                    </a:lnL>
                    <a:lnR w="9360">
                      <a:solidFill>
                        <a:srgbClr val="073763"/>
                      </a:solidFill>
                      <a:prstDash val="solid"/>
                    </a:lnR>
                    <a:lnT w="9360">
                      <a:solidFill>
                        <a:srgbClr val="073763"/>
                      </a:solidFill>
                      <a:prstDash val="solid"/>
                    </a:lnT>
                    <a:lnB w="9360">
                      <a:solidFill>
                        <a:srgbClr val="07376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63160"/>
            <a:ext cx="8229240" cy="71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Proposed Methodology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4288680"/>
            <a:ext cx="8229240" cy="232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317520">
              <a:lnSpc>
                <a:spcPct val="160000"/>
              </a:lnSpc>
              <a:buClr>
                <a:srgbClr val="073763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Network Simulation: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 SDN setup using Mininet and RYU.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60000"/>
              </a:lnSpc>
              <a:buClr>
                <a:srgbClr val="073763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Data Collection: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Capture dynamic traffic metrics.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60000"/>
              </a:lnSpc>
              <a:buClr>
                <a:srgbClr val="073763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Model Design: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Implement lightweight GNN for routing prediction.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60000"/>
              </a:lnSpc>
              <a:buClr>
                <a:srgbClr val="073763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Optimization: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Pruning, quantization, knowledge distillation.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60000"/>
              </a:lnSpc>
              <a:buClr>
                <a:srgbClr val="073763"/>
              </a:buClr>
              <a:buFont typeface="Arial"/>
              <a:buChar char="•"/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Deployment: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Evaluate on edge-level SDN for latency and efficiency.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Google Shape;125;p7" descr=""/>
          <p:cNvPicPr/>
          <p:nvPr/>
        </p:nvPicPr>
        <p:blipFill>
          <a:blip r:embed="rId2"/>
          <a:srcRect l="4706" t="10544" r="6690" b="18067"/>
          <a:stretch/>
        </p:blipFill>
        <p:spPr>
          <a:xfrm>
            <a:off x="2288160" y="1158840"/>
            <a:ext cx="4567680" cy="275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60640" y="551520"/>
            <a:ext cx="8622360" cy="60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Tools and Evaluation Metrics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0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19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Tools &amp; Technologies: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0680">
              <a:lnSpc>
                <a:spcPct val="170000"/>
              </a:lnSpc>
              <a:spcBef>
                <a:spcPts val="641"/>
              </a:spcBef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Python, PyTorch, Mininet, RYU.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068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GEANT2 and Internet2 topologies.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3968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en-US" sz="19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Evaluation Metrics: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0680">
              <a:lnSpc>
                <a:spcPct val="150000"/>
              </a:lnSpc>
              <a:spcBef>
                <a:spcPts val="641"/>
              </a:spcBef>
              <a:buClr>
                <a:srgbClr val="073763"/>
              </a:buClr>
              <a:buFont typeface="Montserrat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Network: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Delay, packet loss, throughput.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0680">
              <a:lnSpc>
                <a:spcPct val="150000"/>
              </a:lnSpc>
              <a:buClr>
                <a:srgbClr val="073763"/>
              </a:buClr>
              <a:buFont typeface="Montserrat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Model: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Latency, memory footprint, CPU usage.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0680">
              <a:lnSpc>
                <a:spcPct val="150000"/>
              </a:lnSpc>
              <a:buClr>
                <a:srgbClr val="073763"/>
              </a:buClr>
              <a:buFont typeface="Montserrat"/>
              <a:buChar char="•"/>
              <a:tabLst>
                <a:tab algn="l" pos="0"/>
              </a:tabLst>
            </a:pPr>
            <a:r>
              <a:rPr b="1" lang="en-US" sz="1400" strike="noStrike" u="none">
                <a:solidFill>
                  <a:srgbClr val="073763"/>
                </a:solidFill>
                <a:effectLst/>
                <a:uFillTx/>
                <a:latin typeface="Montserrat SemiBold"/>
                <a:ea typeface="Montserrat SemiBold"/>
              </a:rPr>
              <a:t>Baselines: </a:t>
            </a:r>
            <a:r>
              <a:rPr b="0" lang="en-US" sz="14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Shortest Path, DRL (DDPG/SAC), GNN (RouteNet, CeGCN).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316080"/>
            <a:ext cx="8229240" cy="48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References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933840"/>
            <a:ext cx="8229240" cy="56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[1] Y. Song, X. Qian, N. Zhang, W. Wang, and A. Xiong, “QoS routing optimization based on deep reinforcement learning in SDNs.,” Computers, Materials &amp; Continua, vol. 79, no. 2, 2024.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[2] Ampratwum and A. Nayak, “Hybrid approach for WDM network restoration: Deep reinforcement learning and graph neural networks,” IEEE Open Journal of the Computer Society, 2025.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[3] W. Jiang, H. Han, Y. Zhang, J. Wang, M. He, W. Gu, J. Mu, and X. Cheng, “Graph neural networks for routing optimization: Challenges and opportunities,” Sustainability, vol. 16, no. 21, p. 9239, 2024.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[4] G. Kim, Y. Kim, and H. Lim, “Deep reinforcement learning-based routing on software-defined networks,” IEEE Access, vol. 10, pp. 18121–18133, 2022.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[5] Y. He, G. Xiao, J. Zhu, T. Zou, and Y. Liang, “Reinforcement learning-based SDN routing scheme empowered by causality detection and GNN,” Frontiers in Computational Neuroscience, vol. 18, p. 1393025, 2024.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228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04920">
              <a:lnSpc>
                <a:spcPct val="150000"/>
              </a:lnSpc>
              <a:buClr>
                <a:srgbClr val="073763"/>
              </a:buClr>
              <a:buFont typeface="Montserrat Medium"/>
              <a:buChar char="•"/>
              <a:tabLst>
                <a:tab algn="l" pos="0"/>
              </a:tabLst>
            </a:pPr>
            <a:r>
              <a:rPr b="0" lang="en-US" sz="1200" strike="noStrike" u="none">
                <a:solidFill>
                  <a:srgbClr val="073763"/>
                </a:solidFill>
                <a:effectLst/>
                <a:uFillTx/>
                <a:latin typeface="Montserrat Medium"/>
                <a:ea typeface="Montserrat Medium"/>
              </a:rPr>
              <a:t>[6] D. Kreutz, F. M. V. Ramos, P. Verıssimo, C. E. Rothenberg, S. Azodolmolky, and S. Uh-lig, “Software-defined networking: A comprehensive survey,” Proceedings of the IEEE, vol. 103, no. 1, pp. 14–76, 2015.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650240" y="2742840"/>
            <a:ext cx="5843520" cy="137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rgbClr val="0b5394"/>
                </a:solidFill>
                <a:effectLst/>
                <a:uFillTx/>
                <a:latin typeface="Montserrat"/>
                <a:ea typeface="Montserrat"/>
              </a:rPr>
              <a:t>THANK YOU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LibreOffice/25.2.5.2$Windows_X86_64 LibreOffice_project/03d19516eb2e1dd5d4ccd751a0d6f35f35e08022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2025-10-17T07:45:06Z</dcterms:modified>
  <cp:revision>1</cp:revision>
  <dc:subject/>
  <dc:title/>
</cp:coreProperties>
</file>